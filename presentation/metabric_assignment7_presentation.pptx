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09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E2D3F"/>
                </a:solidFill>
                <a:latin typeface="Aptos"/>
              </a:defRPr>
            </a:pPr>
            <a:r>
              <a:t>Endocrine therapy and reproductive-age groups in METABRIC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4B5562"/>
                </a:solidFill>
                <a:latin typeface="Aptos"/>
              </a:defRPr>
            </a:pPr>
            <a:r>
              <a:t>ER-positive breast cancer | SWE4S Assignment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0">
                <a:solidFill>
                  <a:srgbClr val="1E2D3F"/>
                </a:solidFill>
                <a:latin typeface="Aptos"/>
              </a:defRPr>
            </a:pPr>
            <a:r>
              <a:t>Hypothesis: endocrine therapy receipt differs across menopause-proxy age groups, and the gap varies across cohorts even after clinical adjustment.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46120"/>
            <a:ext cx="10515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E2D3F"/>
                </a:solidFill>
                <a:latin typeface="Aptos"/>
              </a:defRPr>
            </a:pPr>
            <a:r>
              <a:t>Cohort: n = 1,204 ER-positive patients | ≤45 likely premenopausal (n=129) | ≥55 likely postmenopausal (n=1,075)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1663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4B5562"/>
                </a:solidFill>
                <a:latin typeface="Aptos"/>
              </a:defRPr>
            </a:pPr>
            <a:r>
              <a:t>Critical caveat: menopause was not directly measured; age is only a proxy.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09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E2D3F"/>
                </a:solidFill>
                <a:latin typeface="Aptos"/>
              </a:defRPr>
            </a:pPr>
            <a:r>
              <a:t>1 | Treatment receipt differs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4B5562"/>
                </a:solidFill>
                <a:latin typeface="Aptos"/>
              </a:defRPr>
            </a:pPr>
            <a:r>
              <a:t>46.5% vs 76.9% (30.4 percentage points); difference also appears within tumor stages</a:t>
            </a:r>
          </a:p>
        </p:txBody>
      </p:sp>
      <p:pic>
        <p:nvPicPr>
          <p:cNvPr id="4" name="Picture 3" descr="figure1_treatment_and_st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17320"/>
            <a:ext cx="1133856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09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E2D3F"/>
                </a:solidFill>
                <a:latin typeface="Aptos"/>
              </a:defRPr>
            </a:pPr>
            <a:r>
              <a:t>2 | Treatment gap varies by cohort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4B5562"/>
                </a:solidFill>
                <a:latin typeface="Aptos"/>
              </a:defRPr>
            </a:pPr>
            <a:r>
              <a:t>Cohort interaction likelihood-ratio p = 0.0053; cohort ID is not a diagnosis year</a:t>
            </a:r>
          </a:p>
        </p:txBody>
      </p:sp>
      <p:pic>
        <p:nvPicPr>
          <p:cNvPr id="4" name="Picture 3" descr="figure2_cohort_heterogene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17320"/>
            <a:ext cx="1133856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09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E2D3F"/>
                </a:solidFill>
                <a:latin typeface="Aptos"/>
              </a:defRPr>
            </a:pPr>
            <a:r>
              <a:t>3 | Adjustment explains little of the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4B5562"/>
                </a:solidFill>
                <a:latin typeface="Aptos"/>
              </a:defRPr>
            </a:pPr>
            <a:r>
              <a:t>Fully adjusted: 25.8 pp; no-chemotherapy sensitivity: 28.2 pp; bootstrap CIs exploratory</a:t>
            </a:r>
          </a:p>
        </p:txBody>
      </p:sp>
      <p:pic>
        <p:nvPicPr>
          <p:cNvPr id="4" name="Picture 3" descr="figure3_sequential_adjust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17320"/>
            <a:ext cx="1133856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09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E2D3F"/>
                </a:solidFill>
                <a:latin typeface="Aptos"/>
              </a:defRPr>
            </a:pPr>
            <a:r>
              <a:t>What we would need to answer “why”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E2D3F"/>
                </a:solidFill>
                <a:latin typeface="Aptos"/>
              </a:defRPr>
            </a:pPr>
            <a:r>
              <a:t>• Measured menopausal status, last menstrual period, and age at menopause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03704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E2D3F"/>
                </a:solidFill>
                <a:latin typeface="Aptos"/>
              </a:defRPr>
            </a:pPr>
            <a:r>
              <a:t>• Circulating estradiol / FSH and ovarian suppression or oophorectomy history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90088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E2D3F"/>
                </a:solidFill>
                <a:latin typeface="Aptos"/>
              </a:defRPr>
            </a:pPr>
            <a:r>
              <a:t>• Diagnosis and treatment year; endocrine drug class, initiation, persistence and adherence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76472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E2D3F"/>
                </a:solidFill>
                <a:latin typeface="Aptos"/>
              </a:defRPr>
            </a:pPr>
            <a:r>
              <a:t>• Contraindications, comorbidities, patient preference, care setting and prescribing practices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16636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E2D3F"/>
                </a:solidFill>
                <a:latin typeface="Aptos"/>
              </a:defRPr>
            </a:pPr>
            <a:r>
              <a:t>Conclusion: the recorded treatment gap persists; these data cannot isolate menopause physiology from age and clinical decision-making.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